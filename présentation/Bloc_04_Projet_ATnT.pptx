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72" r:id="rId4"/>
    <p:sldId id="273" r:id="rId5"/>
    <p:sldId id="258" r:id="rId6"/>
    <p:sldId id="274" r:id="rId7"/>
    <p:sldId id="276" r:id="rId8"/>
    <p:sldId id="278" r:id="rId9"/>
    <p:sldId id="277" r:id="rId10"/>
    <p:sldId id="279" r:id="rId11"/>
    <p:sldId id="271" r:id="rId12"/>
  </p:sldIdLst>
  <p:sldSz cx="9144000" cy="5143500" type="screen16x9"/>
  <p:notesSz cx="6858000" cy="9144000"/>
  <p:embeddedFontLst>
    <p:embeddedFont>
      <p:font typeface="Inter Medium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EB"/>
    <a:srgbClr val="F44470"/>
    <a:srgbClr val="41545E"/>
    <a:srgbClr val="0E3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7E554-25ED-48BF-A045-72BA8DE0142F}" v="197" dt="2026-02-15T12:02:02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84746" autoAdjust="0"/>
  </p:normalViewPr>
  <p:slideViewPr>
    <p:cSldViewPr snapToGrid="0">
      <p:cViewPr varScale="1">
        <p:scale>
          <a:sx n="135" d="100"/>
          <a:sy n="135" d="100"/>
        </p:scale>
        <p:origin x="846" y="33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sldOrd addMainMaster delMainMaster">
      <pc:chgData name="Jean-Yves Vuillequez" userId="e7fac481abea6bd0" providerId="LiveId" clId="{79E365E8-22BC-4EC2-9606-9A9AC6CD1D22}" dt="2026-02-15T12:02:16.834" v="1458" actId="20577"/>
      <pc:docMkLst>
        <pc:docMk/>
      </pc:docMkLst>
      <pc:sldChg chg="addSp modSp mod">
        <pc:chgData name="Jean-Yves Vuillequez" userId="e7fac481abea6bd0" providerId="LiveId" clId="{79E365E8-22BC-4EC2-9606-9A9AC6CD1D22}" dt="2026-02-09T15:44:01.677" v="105" actId="1038"/>
        <pc:sldMkLst>
          <pc:docMk/>
          <pc:sldMk cId="0" sldId="256"/>
        </pc:sldMkLst>
        <pc:spChg chg="add mod">
          <ac:chgData name="Jean-Yves Vuillequez" userId="e7fac481abea6bd0" providerId="LiveId" clId="{79E365E8-22BC-4EC2-9606-9A9AC6CD1D22}" dt="2026-02-09T15:44:01.677" v="105" actId="1038"/>
          <ac:spMkLst>
            <pc:docMk/>
            <pc:sldMk cId="0" sldId="256"/>
            <ac:spMk id="3" creationId="{124BAD35-7509-EAFD-F0C5-0C17E26060D0}"/>
          </ac:spMkLst>
        </pc:spChg>
        <pc:spChg chg="mod">
          <ac:chgData name="Jean-Yves Vuillequez" userId="e7fac481abea6bd0" providerId="LiveId" clId="{79E365E8-22BC-4EC2-9606-9A9AC6CD1D22}" dt="2026-02-09T15:43:52.151" v="100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6-02-09T15:40:46.211" v="98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addAnim delAnim modNotesTx">
        <pc:chgData name="Jean-Yves Vuillequez" userId="e7fac481abea6bd0" providerId="LiveId" clId="{79E365E8-22BC-4EC2-9606-9A9AC6CD1D22}" dt="2026-02-15T11:05:28.574" v="1223" actId="113"/>
        <pc:sldMkLst>
          <pc:docMk/>
          <pc:sldMk cId="0" sldId="258"/>
        </pc:sldMkLst>
        <pc:spChg chg="mod">
          <ac:chgData name="Jean-Yves Vuillequez" userId="e7fac481abea6bd0" providerId="LiveId" clId="{79E365E8-22BC-4EC2-9606-9A9AC6CD1D22}" dt="2026-02-15T11:05:28.574" v="1223" actId="113"/>
          <ac:spMkLst>
            <pc:docMk/>
            <pc:sldMk cId="0" sldId="258"/>
            <ac:spMk id="4" creationId="{FDD3CA48-ED30-7B8E-6211-AABF478FAB0C}"/>
          </ac:spMkLst>
        </pc:spChg>
        <pc:spChg chg="mod">
          <ac:chgData name="Jean-Yves Vuillequez" userId="e7fac481abea6bd0" providerId="LiveId" clId="{79E365E8-22BC-4EC2-9606-9A9AC6CD1D22}" dt="2026-02-10T08:22:18.570" v="255" actId="20577"/>
          <ac:spMkLst>
            <pc:docMk/>
            <pc:sldMk cId="0" sldId="258"/>
            <ac:spMk id="68" creationId="{00000000-0000-0000-0000-000000000000}"/>
          </ac:spMkLst>
        </pc:spChg>
        <pc:picChg chg="add mod">
          <ac:chgData name="Jean-Yves Vuillequez" userId="e7fac481abea6bd0" providerId="LiveId" clId="{79E365E8-22BC-4EC2-9606-9A9AC6CD1D22}" dt="2026-02-10T08:21:33.959" v="248" actId="108"/>
          <ac:picMkLst>
            <pc:docMk/>
            <pc:sldMk cId="0" sldId="258"/>
            <ac:picMk id="9" creationId="{FA681FA8-1328-086F-1E5F-8E93F89FCCCC}"/>
          </ac:picMkLst>
        </pc:picChg>
        <pc:picChg chg="add mod">
          <ac:chgData name="Jean-Yves Vuillequez" userId="e7fac481abea6bd0" providerId="LiveId" clId="{79E365E8-22BC-4EC2-9606-9A9AC6CD1D22}" dt="2026-02-10T08:21:42.169" v="251" actId="14100"/>
          <ac:picMkLst>
            <pc:docMk/>
            <pc:sldMk cId="0" sldId="258"/>
            <ac:picMk id="11" creationId="{F9A4B243-9519-7F52-0483-D8EDF67CC72C}"/>
          </ac:picMkLst>
        </pc:picChg>
      </pc:sldChg>
      <pc:sldChg chg="add del">
        <pc:chgData name="Jean-Yves Vuillequez" userId="e7fac481abea6bd0" providerId="LiveId" clId="{79E365E8-22BC-4EC2-9606-9A9AC6CD1D22}" dt="2026-01-16T10:47:03.962" v="33" actId="47"/>
        <pc:sldMkLst>
          <pc:docMk/>
          <pc:sldMk cId="0" sldId="271"/>
        </pc:sldMkLst>
      </pc:sldChg>
      <pc:sldChg chg="modSp add del mod">
        <pc:chgData name="Jean-Yves Vuillequez" userId="e7fac481abea6bd0" providerId="LiveId" clId="{79E365E8-22BC-4EC2-9606-9A9AC6CD1D22}" dt="2026-02-15T11:22:38.208" v="1305" actId="20577"/>
        <pc:sldMkLst>
          <pc:docMk/>
          <pc:sldMk cId="0" sldId="272"/>
        </pc:sldMkLst>
        <pc:spChg chg="mod">
          <ac:chgData name="Jean-Yves Vuillequez" userId="e7fac481abea6bd0" providerId="LiveId" clId="{79E365E8-22BC-4EC2-9606-9A9AC6CD1D22}" dt="2026-02-11T17:10:41.906" v="961" actId="14100"/>
          <ac:spMkLst>
            <pc:docMk/>
            <pc:sldMk cId="0" sldId="272"/>
            <ac:spMk id="5" creationId="{C9E79F0C-F757-C223-90A8-073753256F1C}"/>
          </ac:spMkLst>
        </pc:spChg>
        <pc:spChg chg="mod">
          <ac:chgData name="Jean-Yves Vuillequez" userId="e7fac481abea6bd0" providerId="LiveId" clId="{79E365E8-22BC-4EC2-9606-9A9AC6CD1D22}" dt="2026-02-15T11:22:38.208" v="1305" actId="20577"/>
          <ac:spMkLst>
            <pc:docMk/>
            <pc:sldMk cId="0" sldId="272"/>
            <ac:spMk id="6" creationId="{243FF7A6-205C-44FD-4C04-67C8CD0DF557}"/>
          </ac:spMkLst>
        </pc:spChg>
      </pc:sldChg>
      <pc:sldChg chg="addSp modSp add modNotesTx">
        <pc:chgData name="Jean-Yves Vuillequez" userId="e7fac481abea6bd0" providerId="LiveId" clId="{79E365E8-22BC-4EC2-9606-9A9AC6CD1D22}" dt="2026-02-15T11:00:40.273" v="1220" actId="20577"/>
        <pc:sldMkLst>
          <pc:docMk/>
          <pc:sldMk cId="0" sldId="273"/>
        </pc:sldMkLst>
        <pc:spChg chg="mod">
          <ac:chgData name="Jean-Yves Vuillequez" userId="e7fac481abea6bd0" providerId="LiveId" clId="{79E365E8-22BC-4EC2-9606-9A9AC6CD1D22}" dt="2026-02-10T07:55:14.969" v="174"/>
          <ac:spMkLst>
            <pc:docMk/>
            <pc:sldMk cId="0" sldId="273"/>
            <ac:spMk id="5" creationId="{8037740E-0A40-6A83-319A-5FA39E9869E9}"/>
          </ac:spMkLst>
        </pc:spChg>
        <pc:spChg chg="mod">
          <ac:chgData name="Jean-Yves Vuillequez" userId="e7fac481abea6bd0" providerId="LiveId" clId="{79E365E8-22BC-4EC2-9606-9A9AC6CD1D22}" dt="2026-02-10T08:00:32.758" v="193"/>
          <ac:spMkLst>
            <pc:docMk/>
            <pc:sldMk cId="0" sldId="273"/>
            <ac:spMk id="6" creationId="{66C4B2FB-DF4F-A5D8-D34B-A5DFC80B0AAE}"/>
          </ac:spMkLst>
        </pc:spChg>
        <pc:spChg chg="mod">
          <ac:chgData name="Jean-Yves Vuillequez" userId="e7fac481abea6bd0" providerId="LiveId" clId="{79E365E8-22BC-4EC2-9606-9A9AC6CD1D22}" dt="2026-02-10T08:02:26.847" v="201"/>
          <ac:spMkLst>
            <pc:docMk/>
            <pc:sldMk cId="0" sldId="273"/>
            <ac:spMk id="7" creationId="{36B0EDF8-324A-AE11-8539-C4438745B23E}"/>
          </ac:spMkLst>
        </pc:spChg>
        <pc:spChg chg="mod">
          <ac:chgData name="Jean-Yves Vuillequez" userId="e7fac481abea6bd0" providerId="LiveId" clId="{79E365E8-22BC-4EC2-9606-9A9AC6CD1D22}" dt="2026-02-10T07:57:02.039" v="185" actId="404"/>
          <ac:spMkLst>
            <pc:docMk/>
            <pc:sldMk cId="0" sldId="273"/>
            <ac:spMk id="10" creationId="{96EE234F-B665-A4F2-9A2F-853F31EA1468}"/>
          </ac:spMkLst>
        </pc:spChg>
        <pc:spChg chg="mod">
          <ac:chgData name="Jean-Yves Vuillequez" userId="e7fac481abea6bd0" providerId="LiveId" clId="{79E365E8-22BC-4EC2-9606-9A9AC6CD1D22}" dt="2026-02-10T07:57:19.431" v="192" actId="20577"/>
          <ac:spMkLst>
            <pc:docMk/>
            <pc:sldMk cId="0" sldId="273"/>
            <ac:spMk id="15" creationId="{27FA105C-F9B2-33E0-4F88-3ADFE6E4DD5F}"/>
          </ac:spMkLst>
        </pc:spChg>
        <pc:spChg chg="mod">
          <ac:chgData name="Jean-Yves Vuillequez" userId="e7fac481abea6bd0" providerId="LiveId" clId="{79E365E8-22BC-4EC2-9606-9A9AC6CD1D22}" dt="2026-02-10T07:57:02.039" v="185" actId="404"/>
          <ac:spMkLst>
            <pc:docMk/>
            <pc:sldMk cId="0" sldId="273"/>
            <ac:spMk id="16" creationId="{C1BA5EF2-25A6-BC03-ABAC-0B16A10100AE}"/>
          </ac:spMkLst>
        </pc:spChg>
        <pc:spChg chg="mod">
          <ac:chgData name="Jean-Yves Vuillequez" userId="e7fac481abea6bd0" providerId="LiveId" clId="{79E365E8-22BC-4EC2-9606-9A9AC6CD1D22}" dt="2026-02-10T08:02:18.210" v="200" actId="20577"/>
          <ac:spMkLst>
            <pc:docMk/>
            <pc:sldMk cId="0" sldId="273"/>
            <ac:spMk id="17" creationId="{3FCD9215-1E91-C227-9A00-9D2E28190AB3}"/>
          </ac:spMkLst>
        </pc:spChg>
        <pc:spChg chg="mod">
          <ac:chgData name="Jean-Yves Vuillequez" userId="e7fac481abea6bd0" providerId="LiveId" clId="{79E365E8-22BC-4EC2-9606-9A9AC6CD1D22}" dt="2026-02-10T08:02:57.934" v="206" actId="20577"/>
          <ac:spMkLst>
            <pc:docMk/>
            <pc:sldMk cId="0" sldId="273"/>
            <ac:spMk id="18" creationId="{16C898BF-E544-3A3A-F1C6-FD6EA5BEBE3E}"/>
          </ac:spMkLst>
        </pc:spChg>
      </pc:sldChg>
      <pc:sldChg chg="modSp add mod">
        <pc:chgData name="Jean-Yves Vuillequez" userId="e7fac481abea6bd0" providerId="LiveId" clId="{79E365E8-22BC-4EC2-9606-9A9AC6CD1D22}" dt="2026-02-11T17:16:04.918" v="1065" actId="20577"/>
        <pc:sldMkLst>
          <pc:docMk/>
          <pc:sldMk cId="4090418498" sldId="274"/>
        </pc:sldMkLst>
        <pc:spChg chg="mod">
          <ac:chgData name="Jean-Yves Vuillequez" userId="e7fac481abea6bd0" providerId="LiveId" clId="{79E365E8-22BC-4EC2-9606-9A9AC6CD1D22}" dt="2026-02-11T17:16:04.918" v="1065" actId="20577"/>
          <ac:spMkLst>
            <pc:docMk/>
            <pc:sldMk cId="4090418498" sldId="274"/>
            <ac:spMk id="4" creationId="{C2045995-9916-42E5-AAB5-D7AAED3BD727}"/>
          </ac:spMkLst>
        </pc:spChg>
        <pc:spChg chg="mod">
          <ac:chgData name="Jean-Yves Vuillequez" userId="e7fac481abea6bd0" providerId="LiveId" clId="{79E365E8-22BC-4EC2-9606-9A9AC6CD1D22}" dt="2026-02-10T08:22:31.965" v="258" actId="20577"/>
          <ac:spMkLst>
            <pc:docMk/>
            <pc:sldMk cId="4090418498" sldId="274"/>
            <ac:spMk id="68" creationId="{8628ED01-4C27-9829-B43F-3BB2F0D8CAE4}"/>
          </ac:spMkLst>
        </pc:spChg>
      </pc:sldChg>
      <pc:sldChg chg="addSp delSp modSp add mod modNotesTx">
        <pc:chgData name="Jean-Yves Vuillequez" userId="e7fac481abea6bd0" providerId="LiveId" clId="{79E365E8-22BC-4EC2-9606-9A9AC6CD1D22}" dt="2026-02-15T11:59:34.367" v="1432" actId="207"/>
        <pc:sldMkLst>
          <pc:docMk/>
          <pc:sldMk cId="2166643445" sldId="276"/>
        </pc:sldMkLst>
        <pc:spChg chg="add mod">
          <ac:chgData name="Jean-Yves Vuillequez" userId="e7fac481abea6bd0" providerId="LiveId" clId="{79E365E8-22BC-4EC2-9606-9A9AC6CD1D22}" dt="2026-02-15T10:30:31.351" v="1078" actId="1076"/>
          <ac:spMkLst>
            <pc:docMk/>
            <pc:sldMk cId="2166643445" sldId="276"/>
            <ac:spMk id="2" creationId="{259E98B1-D687-B332-D81D-1624394662FE}"/>
          </ac:spMkLst>
        </pc:spChg>
        <pc:spChg chg="add mod">
          <ac:chgData name="Jean-Yves Vuillequez" userId="e7fac481abea6bd0" providerId="LiveId" clId="{79E365E8-22BC-4EC2-9606-9A9AC6CD1D22}" dt="2026-02-15T11:15:45.923" v="1274" actId="20577"/>
          <ac:spMkLst>
            <pc:docMk/>
            <pc:sldMk cId="2166643445" sldId="276"/>
            <ac:spMk id="4" creationId="{01FBBF87-6124-DC11-E02E-14B877A09313}"/>
          </ac:spMkLst>
        </pc:spChg>
        <pc:spChg chg="add mod">
          <ac:chgData name="Jean-Yves Vuillequez" userId="e7fac481abea6bd0" providerId="LiveId" clId="{79E365E8-22BC-4EC2-9606-9A9AC6CD1D22}" dt="2026-02-10T09:02:52.677" v="675" actId="1076"/>
          <ac:spMkLst>
            <pc:docMk/>
            <pc:sldMk cId="2166643445" sldId="276"/>
            <ac:spMk id="5" creationId="{71ED98FC-215C-1694-C93E-4C95CC9CDBAD}"/>
          </ac:spMkLst>
        </pc:spChg>
        <pc:spChg chg="mod">
          <ac:chgData name="Jean-Yves Vuillequez" userId="e7fac481abea6bd0" providerId="LiveId" clId="{79E365E8-22BC-4EC2-9606-9A9AC6CD1D22}" dt="2026-02-10T09:02:48.235" v="674" actId="20577"/>
          <ac:spMkLst>
            <pc:docMk/>
            <pc:sldMk cId="2166643445" sldId="276"/>
            <ac:spMk id="68" creationId="{3E1FE9AF-F8BF-6D41-7238-1CD8C87E5960}"/>
          </ac:spMkLst>
        </pc:spChg>
        <pc:graphicFrameChg chg="mod modGraphic">
          <ac:chgData name="Jean-Yves Vuillequez" userId="e7fac481abea6bd0" providerId="LiveId" clId="{79E365E8-22BC-4EC2-9606-9A9AC6CD1D22}" dt="2026-02-15T11:59:34.367" v="1432" actId="207"/>
          <ac:graphicFrameMkLst>
            <pc:docMk/>
            <pc:sldMk cId="2166643445" sldId="276"/>
            <ac:graphicFrameMk id="3" creationId="{8413E2CF-464F-F5E1-341F-3D8E5281BBA6}"/>
          </ac:graphicFrameMkLst>
        </pc:graphicFrameChg>
      </pc:sldChg>
      <pc:sldChg chg="addSp delSp modSp add mod setBg">
        <pc:chgData name="Jean-Yves Vuillequez" userId="e7fac481abea6bd0" providerId="LiveId" clId="{79E365E8-22BC-4EC2-9606-9A9AC6CD1D22}" dt="2026-02-15T11:52:16.219" v="1417" actId="1076"/>
        <pc:sldMkLst>
          <pc:docMk/>
          <pc:sldMk cId="2079084738" sldId="277"/>
        </pc:sldMkLst>
        <pc:spChg chg="add mod">
          <ac:chgData name="Jean-Yves Vuillequez" userId="e7fac481abea6bd0" providerId="LiveId" clId="{79E365E8-22BC-4EC2-9606-9A9AC6CD1D22}" dt="2026-02-10T09:21:25.734" v="885" actId="1035"/>
          <ac:spMkLst>
            <pc:docMk/>
            <pc:sldMk cId="2079084738" sldId="277"/>
            <ac:spMk id="2" creationId="{E7408E75-5FAD-77B5-7594-6A6890E2C3DF}"/>
          </ac:spMkLst>
        </pc:spChg>
        <pc:spChg chg="add mod">
          <ac:chgData name="Jean-Yves Vuillequez" userId="e7fac481abea6bd0" providerId="LiveId" clId="{79E365E8-22BC-4EC2-9606-9A9AC6CD1D22}" dt="2026-02-10T09:25:44.688" v="935" actId="1076"/>
          <ac:spMkLst>
            <pc:docMk/>
            <pc:sldMk cId="2079084738" sldId="277"/>
            <ac:spMk id="4" creationId="{3678729D-2AEB-2E03-B530-1B9AACA68733}"/>
          </ac:spMkLst>
        </pc:spChg>
        <pc:spChg chg="mod">
          <ac:chgData name="Jean-Yves Vuillequez" userId="e7fac481abea6bd0" providerId="LiveId" clId="{79E365E8-22BC-4EC2-9606-9A9AC6CD1D22}" dt="2026-02-10T09:02:40.601" v="670" actId="20577"/>
          <ac:spMkLst>
            <pc:docMk/>
            <pc:sldMk cId="2079084738" sldId="277"/>
            <ac:spMk id="68" creationId="{6A0D4F66-7521-A67E-AF1C-E52F1A7DDF29}"/>
          </ac:spMkLst>
        </pc:spChg>
        <pc:graphicFrameChg chg="add mod">
          <ac:chgData name="Jean-Yves Vuillequez" userId="e7fac481abea6bd0" providerId="LiveId" clId="{79E365E8-22BC-4EC2-9606-9A9AC6CD1D22}" dt="2026-02-15T11:52:04.423" v="1413" actId="1076"/>
          <ac:graphicFrameMkLst>
            <pc:docMk/>
            <pc:sldMk cId="2079084738" sldId="277"/>
            <ac:graphicFrameMk id="3" creationId="{41825DFE-1393-23AD-E74E-9758F8CD14CA}"/>
          </ac:graphicFrameMkLst>
        </pc:graphicFrameChg>
        <pc:picChg chg="add mod">
          <ac:chgData name="Jean-Yves Vuillequez" userId="e7fac481abea6bd0" providerId="LiveId" clId="{79E365E8-22BC-4EC2-9606-9A9AC6CD1D22}" dt="2026-02-10T09:14:27.074" v="813" actId="1076"/>
          <ac:picMkLst>
            <pc:docMk/>
            <pc:sldMk cId="2079084738" sldId="277"/>
            <ac:picMk id="17" creationId="{6ABD0340-B64B-3BB8-3490-74B836A99DEA}"/>
          </ac:picMkLst>
        </pc:picChg>
        <pc:picChg chg="add mod">
          <ac:chgData name="Jean-Yves Vuillequez" userId="e7fac481abea6bd0" providerId="LiveId" clId="{79E365E8-22BC-4EC2-9606-9A9AC6CD1D22}" dt="2026-02-15T11:52:16.219" v="1417" actId="1076"/>
          <ac:picMkLst>
            <pc:docMk/>
            <pc:sldMk cId="2079084738" sldId="277"/>
            <ac:picMk id="19" creationId="{D02A2CC4-335B-EB07-1426-E4B10E952B68}"/>
          </ac:picMkLst>
        </pc:picChg>
      </pc:sldChg>
      <pc:sldChg chg="addSp delSp modSp add mod ord setBg">
        <pc:chgData name="Jean-Yves Vuillequez" userId="e7fac481abea6bd0" providerId="LiveId" clId="{79E365E8-22BC-4EC2-9606-9A9AC6CD1D22}" dt="2026-02-15T12:02:16.834" v="1458" actId="20577"/>
        <pc:sldMkLst>
          <pc:docMk/>
          <pc:sldMk cId="1922370420" sldId="278"/>
        </pc:sldMkLst>
        <pc:spChg chg="mod">
          <ac:chgData name="Jean-Yves Vuillequez" userId="e7fac481abea6bd0" providerId="LiveId" clId="{79E365E8-22BC-4EC2-9606-9A9AC6CD1D22}" dt="2026-02-10T09:21:17.479" v="863" actId="1035"/>
          <ac:spMkLst>
            <pc:docMk/>
            <pc:sldMk cId="1922370420" sldId="278"/>
            <ac:spMk id="2" creationId="{73C63F81-2C2E-75E6-5D0D-31E0D978CA4B}"/>
          </ac:spMkLst>
        </pc:spChg>
        <pc:spChg chg="mod">
          <ac:chgData name="Jean-Yves Vuillequez" userId="e7fac481abea6bd0" providerId="LiveId" clId="{79E365E8-22BC-4EC2-9606-9A9AC6CD1D22}" dt="2026-02-15T12:02:16.834" v="1458" actId="20577"/>
          <ac:spMkLst>
            <pc:docMk/>
            <pc:sldMk cId="1922370420" sldId="278"/>
            <ac:spMk id="4" creationId="{B6592448-08F6-0DF1-B512-FA5FD6D01E7E}"/>
          </ac:spMkLst>
        </pc:spChg>
        <pc:graphicFrameChg chg="add mod modGraphic">
          <ac:chgData name="Jean-Yves Vuillequez" userId="e7fac481abea6bd0" providerId="LiveId" clId="{79E365E8-22BC-4EC2-9606-9A9AC6CD1D22}" dt="2026-02-15T11:51:38.250" v="1407" actId="1076"/>
          <ac:graphicFrameMkLst>
            <pc:docMk/>
            <pc:sldMk cId="1922370420" sldId="278"/>
            <ac:graphicFrameMk id="3" creationId="{F4E95566-8BFE-5A11-1F62-D43BF86E879E}"/>
          </ac:graphicFrameMkLst>
        </pc:graphicFrameChg>
        <pc:picChg chg="add del mod">
          <ac:chgData name="Jean-Yves Vuillequez" userId="e7fac481abea6bd0" providerId="LiveId" clId="{79E365E8-22BC-4EC2-9606-9A9AC6CD1D22}" dt="2026-02-15T11:58:44.396" v="1427" actId="21"/>
          <ac:picMkLst>
            <pc:docMk/>
            <pc:sldMk cId="1922370420" sldId="278"/>
            <ac:picMk id="6" creationId="{50E2FA7C-3F5F-A3EB-E52F-32E48B49D13C}"/>
          </ac:picMkLst>
        </pc:picChg>
        <pc:picChg chg="del mod">
          <ac:chgData name="Jean-Yves Vuillequez" userId="e7fac481abea6bd0" providerId="LiveId" clId="{79E365E8-22BC-4EC2-9606-9A9AC6CD1D22}" dt="2026-02-15T11:58:45.395" v="1428" actId="478"/>
          <ac:picMkLst>
            <pc:docMk/>
            <pc:sldMk cId="1922370420" sldId="278"/>
            <ac:picMk id="7" creationId="{5C5B1327-0FCD-ABCC-91B5-AACECD6F9B13}"/>
          </ac:picMkLst>
        </pc:picChg>
        <pc:picChg chg="add mod">
          <ac:chgData name="Jean-Yves Vuillequez" userId="e7fac481abea6bd0" providerId="LiveId" clId="{79E365E8-22BC-4EC2-9606-9A9AC6CD1D22}" dt="2026-02-15T11:58:52.456" v="1430" actId="108"/>
          <ac:picMkLst>
            <pc:docMk/>
            <pc:sldMk cId="1922370420" sldId="278"/>
            <ac:picMk id="8" creationId="{50E2FA7C-3F5F-A3EB-E52F-32E48B49D13C}"/>
          </ac:picMkLst>
        </pc:picChg>
      </pc:sldChg>
      <pc:sldChg chg="addSp delSp modSp add mod setBg">
        <pc:chgData name="Jean-Yves Vuillequez" userId="e7fac481abea6bd0" providerId="LiveId" clId="{79E365E8-22BC-4EC2-9606-9A9AC6CD1D22}" dt="2026-02-15T11:52:21.599" v="1418"/>
        <pc:sldMkLst>
          <pc:docMk/>
          <pc:sldMk cId="2338964080" sldId="279"/>
        </pc:sldMkLst>
        <pc:spChg chg="mod">
          <ac:chgData name="Jean-Yves Vuillequez" userId="e7fac481abea6bd0" providerId="LiveId" clId="{79E365E8-22BC-4EC2-9606-9A9AC6CD1D22}" dt="2026-02-10T09:21:35.077" v="906" actId="1035"/>
          <ac:spMkLst>
            <pc:docMk/>
            <pc:sldMk cId="2338964080" sldId="279"/>
            <ac:spMk id="2" creationId="{CBC0934B-8FB6-3F64-2CA0-653D9D702F77}"/>
          </ac:spMkLst>
        </pc:spChg>
        <pc:spChg chg="mod">
          <ac:chgData name="Jean-Yves Vuillequez" userId="e7fac481abea6bd0" providerId="LiveId" clId="{79E365E8-22BC-4EC2-9606-9A9AC6CD1D22}" dt="2026-02-10T09:31:10.312" v="946" actId="113"/>
          <ac:spMkLst>
            <pc:docMk/>
            <pc:sldMk cId="2338964080" sldId="279"/>
            <ac:spMk id="4" creationId="{77A25A17-F834-199E-D55C-4057E6BFD333}"/>
          </ac:spMkLst>
        </pc:spChg>
        <pc:graphicFrameChg chg="add mod">
          <ac:chgData name="Jean-Yves Vuillequez" userId="e7fac481abea6bd0" providerId="LiveId" clId="{79E365E8-22BC-4EC2-9606-9A9AC6CD1D22}" dt="2026-02-15T11:52:21.599" v="1418"/>
          <ac:graphicFrameMkLst>
            <pc:docMk/>
            <pc:sldMk cId="2338964080" sldId="279"/>
            <ac:graphicFrameMk id="3" creationId="{CCCC2AE3-0207-0866-5564-4C4B4629A0DD}"/>
          </ac:graphicFrameMkLst>
        </pc:graphicFrameChg>
        <pc:picChg chg="add mod">
          <ac:chgData name="Jean-Yves Vuillequez" userId="e7fac481abea6bd0" providerId="LiveId" clId="{79E365E8-22BC-4EC2-9606-9A9AC6CD1D22}" dt="2026-02-10T09:15:16.729" v="823"/>
          <ac:picMkLst>
            <pc:docMk/>
            <pc:sldMk cId="2338964080" sldId="279"/>
            <ac:picMk id="5" creationId="{B6ECCE46-EF01-AD2B-1834-3F6E2C385427}"/>
          </ac:picMkLst>
        </pc:picChg>
      </pc:sldChg>
      <pc:sldMasterChg chg="add del addSldLayout delSldLayout">
        <pc:chgData name="Jean-Yves Vuillequez" userId="e7fac481abea6bd0" providerId="LiveId" clId="{79E365E8-22BC-4EC2-9606-9A9AC6CD1D22}" dt="2026-01-16T10:47:03.962" v="33" actId="47"/>
        <pc:sldMasterMkLst>
          <pc:docMk/>
          <pc:sldMasterMk cId="604091050" sldId="2147483660"/>
        </pc:sldMasterMkLst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69328441" sldId="2147483661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28572972" sldId="2147483662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738534442" sldId="2147483663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962870219" sldId="2147483664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254902670" sldId="2147483665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825252853" sldId="2147483666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934262042" sldId="2147483667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499876969" sldId="2147483668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012943028" sldId="2147483669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4176234486" sldId="2147483670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598435996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3f79b3bfd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e3f79b3bfd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Compréhension du </a:t>
            </a:r>
            <a:r>
              <a:rPr lang="fr-FR" dirty="0" err="1"/>
              <a:t>dataset</a:t>
            </a:r>
            <a:r>
              <a:rPr lang="fr-FR" dirty="0"/>
              <a:t> : analyse du déséquilibre, signal lexical et contraintes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Préprocessing</a:t>
            </a:r>
            <a:r>
              <a:rPr lang="fr-FR" dirty="0"/>
              <a:t> NLP : nettoyage, tokenisation, TF-IDF vs encodage séquentiel (</a:t>
            </a:r>
            <a:r>
              <a:rPr lang="fr-FR" dirty="0" err="1"/>
              <a:t>embeddings</a:t>
            </a:r>
            <a:r>
              <a:rPr lang="fr-FR" dirty="0"/>
              <a:t>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Baselines</a:t>
            </a:r>
            <a:r>
              <a:rPr lang="fr-FR" dirty="0"/>
              <a:t> classiques : Naïf + TF-IDF/</a:t>
            </a:r>
            <a:r>
              <a:rPr lang="fr-FR" dirty="0" err="1"/>
              <a:t>LogReg</a:t>
            </a:r>
            <a:r>
              <a:rPr lang="fr-FR" dirty="0"/>
              <a:t> comme point de référence (F1, PR-AUC)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Montée en complexité : CNN/GRU (motifs &amp; séquence) → </a:t>
            </a:r>
            <a:r>
              <a:rPr lang="fr-FR" dirty="0" err="1"/>
              <a:t>DistilBERT</a:t>
            </a:r>
            <a:r>
              <a:rPr lang="fr-FR" dirty="0"/>
              <a:t> (contexte global)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39E96C2-0190-E596-BE20-05915728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37D3CA4-EF69-A956-3A82-D3E96EAA2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215C859-67A9-2ADE-08B1-95E3B0B12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0283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4E62ADC-7B1D-A816-1897-18A7BE72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2887301-7912-9B97-83FB-BD8C38408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02D1BF4C-7B81-9EAB-E521-F10778035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dirty="0"/>
              <a:t>TF-IDF transforme un texte en </a:t>
            </a:r>
            <a:r>
              <a:rPr lang="fr-FR" b="1" dirty="0"/>
              <a:t>vecteur pondéré</a:t>
            </a:r>
            <a:r>
              <a:rPr lang="fr-FR" dirty="0"/>
              <a:t> en donnant plus d’importance aux mots :</a:t>
            </a:r>
          </a:p>
          <a:p>
            <a:pPr marL="457200" indent="-298450"/>
            <a:r>
              <a:rPr lang="fr-FR" dirty="0"/>
              <a:t>fréquents </a:t>
            </a:r>
            <a:r>
              <a:rPr lang="fr-FR" b="1" dirty="0"/>
              <a:t>dans le document</a:t>
            </a:r>
            <a:endParaRPr lang="fr-FR" dirty="0"/>
          </a:p>
          <a:p>
            <a:pPr marL="457200" indent="-298450"/>
            <a:r>
              <a:rPr lang="fr-FR" dirty="0"/>
              <a:t>mais rares </a:t>
            </a:r>
            <a:r>
              <a:rPr lang="fr-FR" b="1" dirty="0"/>
              <a:t>dans l’ensemble du corpus</a:t>
            </a:r>
            <a:endParaRPr lang="fr-FR" dirty="0"/>
          </a:p>
          <a:p>
            <a:pPr marL="15875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158750" indent="0">
              <a:buNone/>
            </a:pP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TF-IDF permet à </a:t>
            </a:r>
            <a:r>
              <a:rPr lang="fr-FR" dirty="0" err="1"/>
              <a:t>Logistic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 de dire : “Si le vecteur contient fortement ‘free’, la probabilité spam augmente.”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CNN (</a:t>
            </a:r>
            <a:r>
              <a:rPr lang="fr-FR" dirty="0" err="1"/>
              <a:t>Convolutional</a:t>
            </a:r>
            <a:r>
              <a:rPr lang="fr-FR" dirty="0"/>
              <a:t> Neural Network) détecte des </a:t>
            </a:r>
            <a:r>
              <a:rPr lang="fr-FR" b="1" dirty="0"/>
              <a:t>motifs locaux</a:t>
            </a:r>
            <a:r>
              <a:rPr lang="fr-FR" dirty="0"/>
              <a:t> dans une séquence de mots : </a:t>
            </a:r>
          </a:p>
          <a:p>
            <a:r>
              <a:rPr lang="fr-FR" dirty="0" err="1"/>
              <a:t>Embedding</a:t>
            </a:r>
            <a:r>
              <a:rPr lang="fr-FR" dirty="0"/>
              <a:t> → transforme chaque mot en vecteur dense</a:t>
            </a:r>
          </a:p>
          <a:p>
            <a:r>
              <a:rPr lang="fr-FR" dirty="0"/>
              <a:t>Convolution → filtre glissant</a:t>
            </a:r>
          </a:p>
          <a:p>
            <a:r>
              <a:rPr lang="fr-FR" dirty="0"/>
              <a:t>Max </a:t>
            </a:r>
            <a:r>
              <a:rPr lang="fr-FR" dirty="0" err="1"/>
              <a:t>pooling</a:t>
            </a:r>
            <a:r>
              <a:rPr lang="fr-FR" dirty="0"/>
              <a:t> → garde le motif le plus fort</a:t>
            </a:r>
          </a:p>
          <a:p>
            <a:r>
              <a:rPr lang="fr-FR" dirty="0"/>
              <a:t>Couche linéaire → classification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RNN (GRU) lit le texte </a:t>
            </a:r>
            <a:r>
              <a:rPr lang="fr-FR" b="1" dirty="0"/>
              <a:t>mot après mot</a:t>
            </a:r>
            <a:r>
              <a:rPr lang="fr-FR" dirty="0"/>
              <a:t>, en gardant une mémoire de ce qui précède (contexte sémantique)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 err="1"/>
              <a:t>DistilBERT</a:t>
            </a:r>
            <a:r>
              <a:rPr lang="fr-FR" dirty="0"/>
              <a:t> adapté parce que :</a:t>
            </a:r>
          </a:p>
          <a:p>
            <a:pPr marL="457200" indent="-298450">
              <a:buFont typeface="Arial" panose="020B0604020202020204" pitchFamily="34" charset="0"/>
              <a:buChar char="•"/>
            </a:pPr>
            <a:r>
              <a:rPr lang="fr-FR" dirty="0"/>
              <a:t>Il comprend le </a:t>
            </a:r>
            <a:r>
              <a:rPr lang="fr-FR" b="1" dirty="0"/>
              <a:t>contexte complet de la phrase</a:t>
            </a:r>
            <a:endParaRPr lang="fr-FR" dirty="0"/>
          </a:p>
          <a:p>
            <a:pPr marL="457200" indent="-298450">
              <a:buFont typeface="Arial" panose="020B0604020202020204" pitchFamily="34" charset="0"/>
              <a:buChar char="•"/>
            </a:pPr>
            <a:r>
              <a:rPr lang="fr-FR" dirty="0"/>
              <a:t>Il capte les </a:t>
            </a:r>
            <a:r>
              <a:rPr lang="fr-FR" b="1" dirty="0"/>
              <a:t>relations longues distances</a:t>
            </a:r>
            <a:endParaRPr lang="fr-FR" dirty="0"/>
          </a:p>
          <a:p>
            <a:pPr marL="457200" indent="-298450">
              <a:buFont typeface="Arial" panose="020B0604020202020204" pitchFamily="34" charset="0"/>
              <a:buChar char="•"/>
            </a:pPr>
            <a:r>
              <a:rPr lang="fr-FR" dirty="0"/>
              <a:t>Il gère les subtilités (ex : “not free” vs “free”)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Contrairement à :</a:t>
            </a:r>
          </a:p>
          <a:p>
            <a:pPr marL="158750" indent="0">
              <a:buNone/>
            </a:pPr>
            <a:r>
              <a:rPr lang="fr-FR" dirty="0"/>
              <a:t>TF-IDF → pas de contexte</a:t>
            </a:r>
          </a:p>
          <a:p>
            <a:pPr marL="158750" indent="0">
              <a:buNone/>
            </a:pPr>
            <a:r>
              <a:rPr lang="fr-FR" dirty="0"/>
              <a:t>CNN → motifs locaux</a:t>
            </a:r>
          </a:p>
          <a:p>
            <a:pPr marL="158750" indent="0">
              <a:buNone/>
            </a:pPr>
            <a:r>
              <a:rPr lang="fr-FR" dirty="0"/>
              <a:t>RNN → séquentiel mais moins riche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410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33128A4-AF13-0AFB-EDBE-5E4C91B77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9988F49-623D-CDF5-9C68-F2888B390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AEB7FE19-D314-B3A5-2520-71214ED5F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4448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279065C-A2B9-3B1F-E36B-131BC5B52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8DF51E4-7242-FA17-0C12-190D4CF76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C9F4369-0DFF-E6E0-A3B2-FCF958612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7144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1D35CB1-5C7A-39AA-E7C3-B4CF0AB2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C6F5692-F3AC-6636-FC9B-09F55B178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62931AB-A8AB-A53F-72DE-A14E1A295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299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sai.org/Downloads/Volume15No11/Paper_129-Optimized_SMS_Spam_Detection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182215"/>
            <a:ext cx="7411679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AT&amp;T Spam Detector 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64" y="301060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Deep Learning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57DEF025-3287-AC4F-B3FC-747B4D27CCFE}"/>
              </a:ext>
            </a:extLst>
          </p:cNvPr>
          <p:cNvSpPr txBox="1">
            <a:spLocks/>
          </p:cNvSpPr>
          <p:nvPr/>
        </p:nvSpPr>
        <p:spPr>
          <a:xfrm>
            <a:off x="735464" y="3693307"/>
            <a:ext cx="2716396" cy="27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b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Rédacteur : </a:t>
            </a:r>
            <a:r>
              <a:rPr lang="fr-FR" sz="12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Jean-Yves Vuillequez</a:t>
            </a: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124BAD35-7509-EAFD-F0C5-0C17E26060D0}"/>
              </a:ext>
            </a:extLst>
          </p:cNvPr>
          <p:cNvSpPr txBox="1">
            <a:spLocks/>
          </p:cNvSpPr>
          <p:nvPr/>
        </p:nvSpPr>
        <p:spPr>
          <a:xfrm>
            <a:off x="769340" y="1683667"/>
            <a:ext cx="7411679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dirty="0"/>
              <a:t>RNCP35288 CDSD</a:t>
            </a:r>
            <a:r>
              <a:rPr lang="fr-FR" sz="1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330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Contexte et enjeu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86EAA274-6C17-67CB-A10D-51EEF8179EBB}"/>
              </a:ext>
            </a:extLst>
          </p:cNvPr>
          <p:cNvSpPr/>
          <p:nvPr/>
        </p:nvSpPr>
        <p:spPr>
          <a:xfrm>
            <a:off x="617497" y="113220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9E79F0C-F757-C223-90A8-073753256F1C}"/>
              </a:ext>
            </a:extLst>
          </p:cNvPr>
          <p:cNvSpPr/>
          <p:nvPr/>
        </p:nvSpPr>
        <p:spPr>
          <a:xfrm>
            <a:off x="1260039" y="1164423"/>
            <a:ext cx="7266464" cy="12810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243FF7A6-205C-44FD-4C04-67C8CD0DF557}"/>
              </a:ext>
            </a:extLst>
          </p:cNvPr>
          <p:cNvSpPr txBox="1">
            <a:spLocks/>
          </p:cNvSpPr>
          <p:nvPr/>
        </p:nvSpPr>
        <p:spPr>
          <a:xfrm>
            <a:off x="1260039" y="1164423"/>
            <a:ext cx="7266464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Objectif : </a:t>
            </a:r>
          </a:p>
          <a:p>
            <a:pPr>
              <a:buSzPct val="100000"/>
            </a:pPr>
            <a:r>
              <a:rPr lang="fr-FR" sz="1400" dirty="0"/>
              <a:t>Mettre en place un classificateur de SMS capable de détecter automatiquement les messages spam afin de réduire le risque </a:t>
            </a:r>
            <a:r>
              <a:rPr lang="fr-FR" sz="1400" b="1" dirty="0"/>
              <a:t>sans bloquer les messages légitimes</a:t>
            </a:r>
            <a:r>
              <a:rPr lang="fr-FR" sz="1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3f79b3bfd_1_11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Méthodologie du projet</a:t>
            </a:r>
            <a:endParaRPr sz="25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82" name="Google Shape;82;g2e3f79b3bfd_1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e3f79b3bfd_1_11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EE234F-B665-A4F2-9A2F-853F31EA1468}"/>
              </a:ext>
            </a:extLst>
          </p:cNvPr>
          <p:cNvSpPr/>
          <p:nvPr/>
        </p:nvSpPr>
        <p:spPr bwMode="auto">
          <a:xfrm>
            <a:off x="463375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Comprendre la nature des  et les enjeux de la détection de spam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lvl="1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Analyse de la distribution </a:t>
            </a:r>
            <a:r>
              <a:rPr lang="fr-FR" sz="900" b="1" dirty="0" err="1"/>
              <a:t>ham</a:t>
            </a:r>
            <a:r>
              <a:rPr lang="fr-FR" sz="900" b="1" dirty="0"/>
              <a:t> / spam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Analyse lexicale</a:t>
            </a:r>
          </a:p>
          <a:p>
            <a:pPr marL="171450" lvl="1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Analyse sémantique &amp; sentiment spam)</a:t>
            </a:r>
          </a:p>
          <a:p>
            <a:pPr marL="171450" lvl="1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Identification des contraintes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72CD330D-D20E-C29F-1030-B07CA8FB1E22}"/>
              </a:ext>
            </a:extLst>
          </p:cNvPr>
          <p:cNvSpPr/>
          <p:nvPr/>
        </p:nvSpPr>
        <p:spPr>
          <a:xfrm>
            <a:off x="413829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EDA et scope</a:t>
            </a:r>
            <a:endParaRPr lang="fr-FR" sz="1100" kern="1200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934AC2C3-F52B-C5FF-763F-9BA14671F247}"/>
              </a:ext>
            </a:extLst>
          </p:cNvPr>
          <p:cNvSpPr/>
          <p:nvPr/>
        </p:nvSpPr>
        <p:spPr>
          <a:xfrm>
            <a:off x="2069235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20588"/>
              <a:satOff val="-221"/>
              <a:lumOff val="5854"/>
              <a:alphaOff val="0"/>
            </a:schemeClr>
          </a:fillRef>
          <a:effectRef idx="0">
            <a:schemeClr val="accent3">
              <a:shade val="80000"/>
              <a:hueOff val="20588"/>
              <a:satOff val="-221"/>
              <a:lumOff val="585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buNone/>
            </a:pPr>
            <a:r>
              <a:rPr lang="fr-FR" sz="1100" dirty="0"/>
              <a:t>NLP 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 err="1"/>
              <a:t>preprocessing</a:t>
            </a:r>
            <a:endParaRPr lang="fr-FR" sz="1100" dirty="0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8037740E-0A40-6A83-319A-5FA39E9869E9}"/>
              </a:ext>
            </a:extLst>
          </p:cNvPr>
          <p:cNvSpPr/>
          <p:nvPr/>
        </p:nvSpPr>
        <p:spPr>
          <a:xfrm>
            <a:off x="3724640" y="1146338"/>
            <a:ext cx="179985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41176"/>
              <a:satOff val="-442"/>
              <a:lumOff val="11707"/>
              <a:alphaOff val="0"/>
            </a:schemeClr>
          </a:fillRef>
          <a:effectRef idx="0">
            <a:schemeClr val="accent3">
              <a:shade val="80000"/>
              <a:hueOff val="41176"/>
              <a:satOff val="-442"/>
              <a:lumOff val="1170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 err="1"/>
              <a:t>Baselines</a:t>
            </a:r>
            <a:r>
              <a:rPr lang="fr-FR" sz="1100" dirty="0"/>
              <a:t> &amp; modèles classiques</a:t>
            </a:r>
            <a:endParaRPr lang="fr-FR" sz="1100" kern="1200" dirty="0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6C4B2FB-DF4F-A5D8-D34B-A5DFC80B0AAE}"/>
              </a:ext>
            </a:extLst>
          </p:cNvPr>
          <p:cNvSpPr/>
          <p:nvPr/>
        </p:nvSpPr>
        <p:spPr>
          <a:xfrm>
            <a:off x="5349732" y="1146338"/>
            <a:ext cx="1857184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61764"/>
              <a:satOff val="-662"/>
              <a:lumOff val="17560"/>
              <a:alphaOff val="0"/>
            </a:schemeClr>
          </a:fillRef>
          <a:effectRef idx="0">
            <a:schemeClr val="accent3">
              <a:shade val="80000"/>
              <a:hueOff val="61764"/>
              <a:satOff val="-662"/>
              <a:lumOff val="1756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Deep Learning</a:t>
            </a:r>
            <a:endParaRPr lang="fr-FR" sz="1100" kern="1200" dirty="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6B0EDF8-324A-AE11-8539-C4438745B23E}"/>
              </a:ext>
            </a:extLst>
          </p:cNvPr>
          <p:cNvSpPr/>
          <p:nvPr/>
        </p:nvSpPr>
        <p:spPr>
          <a:xfrm>
            <a:off x="7035451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82353"/>
              <a:satOff val="-883"/>
              <a:lumOff val="23414"/>
              <a:alphaOff val="0"/>
            </a:schemeClr>
          </a:fillRef>
          <a:effectRef idx="0">
            <a:schemeClr val="accent3">
              <a:shade val="80000"/>
              <a:hueOff val="82353"/>
              <a:satOff val="-883"/>
              <a:lumOff val="2341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Transformer</a:t>
            </a:r>
            <a:endParaRPr lang="fr-FR" sz="1100" kern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FA105C-F9B2-33E0-4F88-3ADFE6E4DD5F}"/>
              </a:ext>
            </a:extLst>
          </p:cNvPr>
          <p:cNvSpPr/>
          <p:nvPr/>
        </p:nvSpPr>
        <p:spPr bwMode="auto">
          <a:xfrm>
            <a:off x="2171859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Transformer le texte brut en représentations exploitables par les modèles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Nettoyage et normalisation du texte + Tokenisation</a:t>
            </a: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Deux approches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TF-IDF (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baseline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ML interprétable)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Embedding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(CNN / RNN / Transformers)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BA5EF2-25A6-BC03-ABAC-0B16A10100AE}"/>
              </a:ext>
            </a:extLst>
          </p:cNvPr>
          <p:cNvSpPr/>
          <p:nvPr/>
        </p:nvSpPr>
        <p:spPr bwMode="auto">
          <a:xfrm>
            <a:off x="3850214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Établir des points de comparaison 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Modèle naïf (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random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stratifié)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TF-IDF + 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Logistic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Regression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Évaluation via 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Precision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/ 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Recall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/ F1 / PR-</a:t>
            </a:r>
            <a:r>
              <a:rPr lang="fr-FR" sz="9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AUCAnalyse</a:t>
            </a:r>
            <a:r>
              <a:rPr lang="fr-FR" sz="9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des erreurs (confusion matrix)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CD9215-1E91-C227-9A00-9D2E28190AB3}"/>
              </a:ext>
            </a:extLst>
          </p:cNvPr>
          <p:cNvSpPr/>
          <p:nvPr/>
        </p:nvSpPr>
        <p:spPr bwMode="auto">
          <a:xfrm>
            <a:off x="5498432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Évaluer l’apport des réseaux neuronaux sur données textuelles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CNN : détection de motifs locaux (n-grams)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GRU (RNN) : prise en compte de la séquence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Suivi des métriques par </a:t>
            </a:r>
            <a:r>
              <a:rPr lang="fr-FR" sz="900" dirty="0" err="1"/>
              <a:t>epoch</a:t>
            </a:r>
            <a:endParaRPr lang="fr-FR" sz="900" dirty="0"/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Comparaison avec les </a:t>
            </a:r>
            <a:r>
              <a:rPr lang="fr-FR" sz="900" dirty="0" err="1"/>
              <a:t>baselines</a:t>
            </a:r>
            <a:r>
              <a:rPr lang="fr-FR" sz="900" dirty="0"/>
              <a:t> ML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898BF-E544-3A3A-F1C6-FD6EA5BEBE3E}"/>
              </a:ext>
            </a:extLst>
          </p:cNvPr>
          <p:cNvSpPr/>
          <p:nvPr/>
        </p:nvSpPr>
        <p:spPr bwMode="auto">
          <a:xfrm>
            <a:off x="7206916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Maximiser la performance de détection du spam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9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Fine-tuning de </a:t>
            </a:r>
            <a:r>
              <a:rPr lang="fr-FR" sz="900" dirty="0" err="1"/>
              <a:t>DistilBERT</a:t>
            </a:r>
            <a:endParaRPr lang="fr-FR" sz="900" dirty="0"/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Exploitation du contexte sémantique complet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900" dirty="0"/>
              <a:t>Évaluation finale et comparaison globale</a:t>
            </a: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endParaRPr lang="fr-FR" sz="9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C68D3C11-FF4A-152A-15F7-5496E4E77F38}"/>
              </a:ext>
            </a:extLst>
          </p:cNvPr>
          <p:cNvGrpSpPr/>
          <p:nvPr/>
        </p:nvGrpSpPr>
        <p:grpSpPr>
          <a:xfrm>
            <a:off x="3626697" y="1259399"/>
            <a:ext cx="503125" cy="306978"/>
            <a:chOff x="5129933" y="1197972"/>
            <a:chExt cx="679703" cy="414716"/>
          </a:xfrm>
        </p:grpSpPr>
        <p:sp>
          <p:nvSpPr>
            <p:cNvPr id="9" name="Flèche : demi-tour 8">
              <a:extLst>
                <a:ext uri="{FF2B5EF4-FFF2-40B4-BE49-F238E27FC236}">
                  <a16:creationId xmlns:a16="http://schemas.microsoft.com/office/drawing/2014/main" id="{8C998E6D-28B7-7E7D-F69E-30B2E9223F02}"/>
                </a:ext>
              </a:extLst>
            </p:cNvPr>
            <p:cNvSpPr/>
            <p:nvPr/>
          </p:nvSpPr>
          <p:spPr>
            <a:xfrm rot="5400000" flipH="1">
              <a:off x="5434669" y="1202078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" name="Flèche : demi-tour 11">
              <a:extLst>
                <a:ext uri="{FF2B5EF4-FFF2-40B4-BE49-F238E27FC236}">
                  <a16:creationId xmlns:a16="http://schemas.microsoft.com/office/drawing/2014/main" id="{B782929E-1773-2DBE-2755-66E7F62F7548}"/>
                </a:ext>
              </a:extLst>
            </p:cNvPr>
            <p:cNvSpPr/>
            <p:nvPr/>
          </p:nvSpPr>
          <p:spPr>
            <a:xfrm rot="16200000" flipH="1">
              <a:off x="5125827" y="1237720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4" grpId="0" animBg="1"/>
      <p:bldP spid="5" grpId="0" animBg="1"/>
      <p:bldP spid="6" grpId="0" animBg="1"/>
      <p:bldP spid="7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Scope sémantique 1/2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94E73EE0-F6F1-CDDF-FA4B-05D7CA1DA99B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FDD3CA48-ED30-7B8E-6211-AABF478FAB0C}"/>
              </a:ext>
            </a:extLst>
          </p:cNvPr>
          <p:cNvSpPr txBox="1">
            <a:spLocks/>
          </p:cNvSpPr>
          <p:nvPr/>
        </p:nvSpPr>
        <p:spPr>
          <a:xfrm>
            <a:off x="539752" y="3696985"/>
            <a:ext cx="8458333" cy="87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: </a:t>
            </a:r>
            <a:endParaRPr lang="fr-FR" sz="1000" dirty="0"/>
          </a:p>
          <a:p>
            <a:pPr>
              <a:buSzPct val="100000"/>
            </a:pPr>
            <a:r>
              <a:rPr lang="fr-FR" sz="1000" dirty="0" err="1"/>
              <a:t>Dataset</a:t>
            </a:r>
            <a:r>
              <a:rPr lang="fr-FR" sz="1000" dirty="0"/>
              <a:t> fortement déséquilibré  : </a:t>
            </a:r>
            <a:r>
              <a:rPr lang="da-DK" sz="1000" b="1" dirty="0"/>
              <a:t>86,6 % ham vs 13,4 % spam</a:t>
            </a:r>
          </a:p>
          <a:p>
            <a:pPr>
              <a:buSzPct val="100000"/>
            </a:pPr>
            <a:r>
              <a:rPr lang="fr-FR" sz="1000" dirty="0"/>
              <a:t>Le spam présente un </a:t>
            </a:r>
            <a:r>
              <a:rPr lang="fr-FR" sz="1000" b="1" dirty="0"/>
              <a:t>biais émotionnel positif </a:t>
            </a:r>
            <a:r>
              <a:rPr lang="fr-FR" sz="1000" dirty="0"/>
              <a:t>marqué vs le </a:t>
            </a:r>
            <a:r>
              <a:rPr lang="fr-FR" sz="1000" dirty="0" err="1"/>
              <a:t>ham</a:t>
            </a:r>
            <a:r>
              <a:rPr lang="fr-FR" sz="1000" dirty="0"/>
              <a:t> est </a:t>
            </a:r>
            <a:r>
              <a:rPr lang="fr-FR" sz="1000" b="1" dirty="0"/>
              <a:t>plus neutre / négatif</a:t>
            </a:r>
            <a:endParaRPr lang="fr-FR" sz="1000" dirty="0"/>
          </a:p>
          <a:p>
            <a:pPr>
              <a:buSzPct val="100000"/>
            </a:pPr>
            <a:r>
              <a:rPr lang="fr-FR" sz="1000" dirty="0"/>
              <a:t>Le vocabulaire des spams est </a:t>
            </a:r>
            <a:r>
              <a:rPr lang="fr-FR" sz="1000" b="1" dirty="0"/>
              <a:t>différent</a:t>
            </a:r>
            <a:r>
              <a:rPr lang="fr-FR" sz="1000" dirty="0"/>
              <a:t> de celui des messages normaux, ce qui permet au modèle d’apprendre à les distinguer</a:t>
            </a:r>
          </a:p>
        </p:txBody>
      </p:sp>
      <p:pic>
        <p:nvPicPr>
          <p:cNvPr id="9" name="Image 8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FA681FA8-1328-086F-1E5F-8E93F89FC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104745"/>
            <a:ext cx="4072607" cy="2399518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1" name="Image 10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F9A4B243-9519-7F52-0483-D8EDF67CC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224" y="1107194"/>
            <a:ext cx="4358309" cy="2399518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BC0594D-04FD-41E9-58D3-083A8ACC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628ED01-4C27-9829-B43F-3BB2F0D8CAE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Scope sémantique 2/2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872FE320-F46A-C8FF-4276-F0B8E6689D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4312B2D-FA2F-F3B4-245E-1BBFA57B9D3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B41D9657-AD5E-505B-9F91-33F754FEEDDF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C2045995-9916-42E5-AAB5-D7AAED3BD727}"/>
              </a:ext>
            </a:extLst>
          </p:cNvPr>
          <p:cNvSpPr txBox="1">
            <a:spLocks/>
          </p:cNvSpPr>
          <p:nvPr/>
        </p:nvSpPr>
        <p:spPr>
          <a:xfrm>
            <a:off x="539752" y="3696985"/>
            <a:ext cx="8458333" cy="87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: </a:t>
            </a:r>
            <a:endParaRPr lang="fr-FR" sz="1000" dirty="0"/>
          </a:p>
          <a:p>
            <a:pPr>
              <a:buSzPct val="100000"/>
            </a:pPr>
            <a:r>
              <a:rPr lang="fr-FR" sz="1000" dirty="0"/>
              <a:t>Le vocabulaire </a:t>
            </a:r>
            <a:r>
              <a:rPr lang="fr-FR" sz="1000" dirty="0" err="1"/>
              <a:t>ham</a:t>
            </a:r>
            <a:r>
              <a:rPr lang="fr-FR" sz="1000" dirty="0"/>
              <a:t> est </a:t>
            </a:r>
            <a:r>
              <a:rPr lang="fr-FR" sz="1000" b="1" dirty="0"/>
              <a:t>conversationnel et contextuel </a:t>
            </a:r>
            <a:r>
              <a:rPr lang="fr-FR" sz="1000" dirty="0"/>
              <a:t>: temps, verbes d’intentions, relations</a:t>
            </a:r>
          </a:p>
          <a:p>
            <a:pPr>
              <a:buSzPct val="100000"/>
            </a:pPr>
            <a:r>
              <a:rPr lang="fr-FR" sz="1000" dirty="0"/>
              <a:t>Le vocabulaire spam est </a:t>
            </a:r>
            <a:r>
              <a:rPr lang="fr-FR" sz="1000" b="1" dirty="0"/>
              <a:t>transactionnel et incitatif </a:t>
            </a:r>
            <a:r>
              <a:rPr lang="fr-FR" sz="1000" dirty="0"/>
              <a:t>: gratuit, urgence, verbes d’actions, technique</a:t>
            </a:r>
          </a:p>
          <a:p>
            <a:pPr>
              <a:buSzPct val="100000"/>
            </a:pPr>
            <a:r>
              <a:rPr lang="fr-FR" sz="1000" dirty="0"/>
              <a:t>Il existe une classification bien marquée entre Ham et Spam avec des champs lexicaux </a:t>
            </a:r>
            <a:r>
              <a:rPr lang="fr-FR" sz="1000"/>
              <a:t>très identifiables</a:t>
            </a:r>
            <a:endParaRPr lang="fr-FR" sz="1000" dirty="0"/>
          </a:p>
        </p:txBody>
      </p:sp>
      <p:pic>
        <p:nvPicPr>
          <p:cNvPr id="5" name="Image 4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1F9FC507-6955-2ABF-ED7F-29E99427C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076268"/>
            <a:ext cx="4096167" cy="2423924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7" name="Image 6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1354FABF-0AE7-E05F-853D-FBAAE78B8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918" y="1075800"/>
            <a:ext cx="4079286" cy="2423924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4090418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6A6BDB0-C2F6-6468-6F53-B9913872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E1FE9AF-F8BF-6D41-7238-1CD8C87E596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 : 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Baseline vs Deep Learning vs Transformer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E848E16-CEF6-6B6A-B09B-C7266415DF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D08589E-C285-3938-9205-119139A24000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413E2CF-464F-F5E1-341F-3D8E5281B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0264"/>
              </p:ext>
            </p:extLst>
          </p:nvPr>
        </p:nvGraphicFramePr>
        <p:xfrm>
          <a:off x="463374" y="1713728"/>
          <a:ext cx="8492890" cy="232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774">
                  <a:extLst>
                    <a:ext uri="{9D8B030D-6E8A-4147-A177-3AD203B41FA5}">
                      <a16:colId xmlns:a16="http://schemas.microsoft.com/office/drawing/2014/main" val="467522551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4215255045"/>
                    </a:ext>
                  </a:extLst>
                </a:gridCol>
                <a:gridCol w="1217817">
                  <a:extLst>
                    <a:ext uri="{9D8B030D-6E8A-4147-A177-3AD203B41FA5}">
                      <a16:colId xmlns:a16="http://schemas.microsoft.com/office/drawing/2014/main" val="378134031"/>
                    </a:ext>
                  </a:extLst>
                </a:gridCol>
                <a:gridCol w="1217817">
                  <a:extLst>
                    <a:ext uri="{9D8B030D-6E8A-4147-A177-3AD203B41FA5}">
                      <a16:colId xmlns:a16="http://schemas.microsoft.com/office/drawing/2014/main" val="478246532"/>
                    </a:ext>
                  </a:extLst>
                </a:gridCol>
                <a:gridCol w="1217817">
                  <a:extLst>
                    <a:ext uri="{9D8B030D-6E8A-4147-A177-3AD203B41FA5}">
                      <a16:colId xmlns:a16="http://schemas.microsoft.com/office/drawing/2014/main" val="1955977169"/>
                    </a:ext>
                  </a:extLst>
                </a:gridCol>
                <a:gridCol w="2524060">
                  <a:extLst>
                    <a:ext uri="{9D8B030D-6E8A-4147-A177-3AD203B41FA5}">
                      <a16:colId xmlns:a16="http://schemas.microsoft.com/office/drawing/2014/main" val="2569764412"/>
                    </a:ext>
                  </a:extLst>
                </a:gridCol>
              </a:tblGrid>
              <a:tr h="464764">
                <a:tc>
                  <a:txBody>
                    <a:bodyPr/>
                    <a:lstStyle/>
                    <a:p>
                      <a:r>
                        <a:rPr lang="fr-FR" sz="1100" dirty="0"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precision_spam</a:t>
                      </a:r>
                      <a:endParaRPr lang="fr-FR" sz="11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Recall_spam</a:t>
                      </a:r>
                      <a:endParaRPr lang="fr-FR" sz="11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f1_spam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b="1" i="0" u="none" strike="noStrike" cap="none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pr_auc</a:t>
                      </a:r>
                      <a:endParaRPr lang="fr-FR" sz="11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dirty="0"/>
                        <a:t>Diagnostic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34860"/>
                  </a:ext>
                </a:extLst>
              </a:tr>
              <a:tr h="46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/>
                        <a:t>TF-IDF + </a:t>
                      </a:r>
                      <a:r>
                        <a:rPr lang="fr-FR" sz="1200" b="1" dirty="0" err="1"/>
                        <a:t>LogReg</a:t>
                      </a:r>
                      <a:endParaRPr lang="fr-FR" sz="1200" dirty="0"/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0.958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0.920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0.938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0.974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/>
                        <a:t>Baseline très solide, simple et robuste</a:t>
                      </a:r>
                    </a:p>
                  </a:txBody>
                  <a:tcPr marL="80700" marR="80700" marT="40350" marB="40350" anchor="ctr"/>
                </a:tc>
                <a:extLst>
                  <a:ext uri="{0D108BD9-81ED-4DB2-BD59-A6C34878D82A}">
                    <a16:rowId xmlns:a16="http://schemas.microsoft.com/office/drawing/2014/main" val="2580403079"/>
                  </a:ext>
                </a:extLst>
              </a:tr>
              <a:tr h="46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/>
                        <a:t>SimpleCNN</a:t>
                      </a:r>
                      <a:r>
                        <a:rPr lang="fr-FR" sz="1200" b="1" dirty="0"/>
                        <a:t> (</a:t>
                      </a:r>
                      <a:r>
                        <a:rPr lang="fr-FR" sz="1200" b="1" dirty="0" err="1"/>
                        <a:t>PyTorch</a:t>
                      </a:r>
                      <a:r>
                        <a:rPr lang="fr-FR" sz="1200" b="1" dirty="0"/>
                        <a:t>)</a:t>
                      </a:r>
                      <a:endParaRPr lang="fr-FR" sz="1200" dirty="0"/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/>
                        <a:t>0.932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0.913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0.922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/>
                        <a:t>0.962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Capture de motifs locaux, perfs proches de la </a:t>
                      </a:r>
                      <a:r>
                        <a:rPr lang="fr-FR" sz="1200" dirty="0" err="1"/>
                        <a:t>baseline</a:t>
                      </a:r>
                      <a:endParaRPr lang="fr-FR" sz="1200" dirty="0"/>
                    </a:p>
                  </a:txBody>
                  <a:tcPr marL="80700" marR="80700" marT="40350" marB="40350" anchor="ctr"/>
                </a:tc>
                <a:extLst>
                  <a:ext uri="{0D108BD9-81ED-4DB2-BD59-A6C34878D82A}">
                    <a16:rowId xmlns:a16="http://schemas.microsoft.com/office/drawing/2014/main" val="2338539637"/>
                  </a:ext>
                </a:extLst>
              </a:tr>
              <a:tr h="46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/>
                        <a:t>SimpleGRU</a:t>
                      </a:r>
                      <a:r>
                        <a:rPr lang="fr-FR" sz="1200" b="1" dirty="0"/>
                        <a:t> (</a:t>
                      </a:r>
                      <a:r>
                        <a:rPr lang="fr-FR" sz="1200" b="1" dirty="0" err="1"/>
                        <a:t>PyTorch</a:t>
                      </a:r>
                      <a:r>
                        <a:rPr lang="fr-FR" sz="1200" b="1" dirty="0"/>
                        <a:t>)</a:t>
                      </a:r>
                      <a:endParaRPr lang="fr-FR" sz="1200" dirty="0"/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/>
                        <a:t>0.929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/>
                        <a:t>0.873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0.900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0.958</a:t>
                      </a: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Modélise la séquence, mais moins stable</a:t>
                      </a:r>
                    </a:p>
                  </a:txBody>
                  <a:tcPr marL="80700" marR="80700" marT="40350" marB="40350" anchor="ctr"/>
                </a:tc>
                <a:extLst>
                  <a:ext uri="{0D108BD9-81ED-4DB2-BD59-A6C34878D82A}">
                    <a16:rowId xmlns:a16="http://schemas.microsoft.com/office/drawing/2014/main" val="2234715631"/>
                  </a:ext>
                </a:extLst>
              </a:tr>
              <a:tr h="464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/>
                        <a:t>DistilBERT</a:t>
                      </a:r>
                      <a:r>
                        <a:rPr lang="fr-FR" sz="1200" b="1" dirty="0"/>
                        <a:t> (</a:t>
                      </a:r>
                      <a:r>
                        <a:rPr lang="fr-FR" sz="1200" b="1" dirty="0" err="1"/>
                        <a:t>PyTorch</a:t>
                      </a:r>
                      <a:r>
                        <a:rPr lang="fr-FR" sz="1200" b="1" dirty="0"/>
                        <a:t>)</a:t>
                      </a:r>
                      <a:endParaRPr lang="fr-FR" sz="1200" dirty="0"/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0.979</a:t>
                      </a:r>
                      <a:endParaRPr lang="fr-FR" sz="1200" dirty="0">
                        <a:solidFill>
                          <a:srgbClr val="00B050"/>
                        </a:solidFill>
                      </a:endParaRP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0.953</a:t>
                      </a:r>
                      <a:endParaRPr lang="fr-FR" sz="1200" dirty="0">
                        <a:solidFill>
                          <a:srgbClr val="00B050"/>
                        </a:solidFill>
                      </a:endParaRP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0.966</a:t>
                      </a:r>
                      <a:endParaRPr lang="fr-FR" sz="1200" dirty="0">
                        <a:solidFill>
                          <a:srgbClr val="00B050"/>
                        </a:solidFill>
                      </a:endParaRP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</a:rPr>
                        <a:t>0.989</a:t>
                      </a:r>
                      <a:endParaRPr lang="fr-FR" sz="1200" dirty="0">
                        <a:solidFill>
                          <a:srgbClr val="00B050"/>
                        </a:solidFill>
                      </a:endParaRPr>
                    </a:p>
                  </a:txBody>
                  <a:tcPr marL="80700" marR="80700" marT="40350" marB="403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Meilleure performance globale, mais coût élevé</a:t>
                      </a:r>
                    </a:p>
                  </a:txBody>
                  <a:tcPr marL="80700" marR="80700" marT="40350" marB="40350" anchor="ctr"/>
                </a:tc>
                <a:extLst>
                  <a:ext uri="{0D108BD9-81ED-4DB2-BD59-A6C34878D82A}">
                    <a16:rowId xmlns:a16="http://schemas.microsoft.com/office/drawing/2014/main" val="3118598102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71ED98FC-215C-1694-C93E-4C95CC9CDBAD}"/>
              </a:ext>
            </a:extLst>
          </p:cNvPr>
          <p:cNvSpPr txBox="1"/>
          <p:nvPr/>
        </p:nvSpPr>
        <p:spPr>
          <a:xfrm>
            <a:off x="415356" y="1043155"/>
            <a:ext cx="85409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1" dirty="0">
                <a:solidFill>
                  <a:schemeClr val="bg1">
                    <a:lumMod val="50000"/>
                  </a:schemeClr>
                </a:solidFill>
              </a:rPr>
              <a:t>F1-score spam</a:t>
            </a:r>
            <a:r>
              <a:rPr lang="fr-FR" sz="1100" dirty="0">
                <a:solidFill>
                  <a:schemeClr val="bg1">
                    <a:lumMod val="50000"/>
                  </a:schemeClr>
                </a:solidFill>
              </a:rPr>
              <a:t> comme métrique principale (classes déséquilibrées), complété par </a:t>
            </a:r>
            <a:r>
              <a:rPr lang="fr-FR" sz="1100" b="1" dirty="0">
                <a:solidFill>
                  <a:schemeClr val="bg1">
                    <a:lumMod val="50000"/>
                  </a:schemeClr>
                </a:solidFill>
              </a:rPr>
              <a:t>précision</a:t>
            </a:r>
            <a:r>
              <a:rPr lang="fr-FR" sz="11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fr-FR" sz="1100" b="1" dirty="0">
                <a:solidFill>
                  <a:schemeClr val="bg1">
                    <a:lumMod val="50000"/>
                  </a:schemeClr>
                </a:solidFill>
              </a:rPr>
              <a:t>rappel</a:t>
            </a:r>
            <a:r>
              <a:rPr lang="fr-FR" sz="1100" dirty="0">
                <a:solidFill>
                  <a:schemeClr val="bg1">
                    <a:lumMod val="50000"/>
                  </a:schemeClr>
                </a:solidFill>
              </a:rPr>
              <a:t> et </a:t>
            </a:r>
            <a:r>
              <a:rPr lang="fr-FR" sz="1100" b="1" dirty="0">
                <a:solidFill>
                  <a:schemeClr val="bg1">
                    <a:lumMod val="50000"/>
                  </a:schemeClr>
                </a:solidFill>
              </a:rPr>
              <a:t>PR-AUC</a:t>
            </a:r>
            <a:r>
              <a:rPr lang="fr-FR" sz="1100" dirty="0">
                <a:solidFill>
                  <a:schemeClr val="bg1">
                    <a:lumMod val="50000"/>
                  </a:schemeClr>
                </a:solidFill>
              </a:rPr>
              <a:t> pour analyser les compromis faux positifs / faux négatifs et la qualité du </a:t>
            </a:r>
            <a:r>
              <a:rPr lang="fr-FR" sz="1100" dirty="0" err="1">
                <a:solidFill>
                  <a:schemeClr val="bg1">
                    <a:lumMod val="50000"/>
                  </a:schemeClr>
                </a:solidFill>
              </a:rPr>
              <a:t>ranking</a:t>
            </a:r>
            <a:endParaRPr lang="fr-FR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259E98B1-D687-B332-D81D-1624394662FE}"/>
              </a:ext>
            </a:extLst>
          </p:cNvPr>
          <p:cNvSpPr/>
          <p:nvPr/>
        </p:nvSpPr>
        <p:spPr>
          <a:xfrm>
            <a:off x="463374" y="4366223"/>
            <a:ext cx="308246" cy="30251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01FBBF87-6124-DC11-E02E-14B877A09313}"/>
              </a:ext>
            </a:extLst>
          </p:cNvPr>
          <p:cNvSpPr txBox="1">
            <a:spLocks/>
          </p:cNvSpPr>
          <p:nvPr/>
        </p:nvSpPr>
        <p:spPr>
          <a:xfrm>
            <a:off x="617497" y="4338717"/>
            <a:ext cx="7266464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50" dirty="0"/>
              <a:t>Résultats en phase avec « l’état de l’art » : </a:t>
            </a:r>
            <a:r>
              <a:rPr lang="fr-FR" sz="1050" dirty="0">
                <a:hlinkClick r:id="rId4"/>
              </a:rPr>
              <a:t>Paper_129-Optimized_SMS_Spam_Detection.pdf 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21666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77F2A27-B2D3-1D9D-02A7-2EF3DFF0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2D7C002-0651-56E5-89BE-2627FA315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 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Comparaisons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5F743FD3-BAA3-8050-8667-F58A09A46E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E6ADEDA-E5AD-955D-43E4-0CDBBF247AD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69;p3">
            <a:extLst>
              <a:ext uri="{FF2B5EF4-FFF2-40B4-BE49-F238E27FC236}">
                <a16:creationId xmlns:a16="http://schemas.microsoft.com/office/drawing/2014/main" id="{73C63F81-2C2E-75E6-5D0D-31E0D978CA4B}"/>
              </a:ext>
            </a:extLst>
          </p:cNvPr>
          <p:cNvSpPr/>
          <p:nvPr/>
        </p:nvSpPr>
        <p:spPr>
          <a:xfrm>
            <a:off x="311700" y="4160547"/>
            <a:ext cx="8686385" cy="5967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B6592448-08F6-0DF1-B512-FA5FD6D01E7E}"/>
              </a:ext>
            </a:extLst>
          </p:cNvPr>
          <p:cNvSpPr txBox="1">
            <a:spLocks/>
          </p:cNvSpPr>
          <p:nvPr/>
        </p:nvSpPr>
        <p:spPr>
          <a:xfrm>
            <a:off x="539752" y="4148508"/>
            <a:ext cx="8458333" cy="67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fr-FR" sz="1000" dirty="0"/>
              <a:t>Très bon compromis précision / rappel : faible taux de faux positifs (6) et de faux négatifs (12)</a:t>
            </a:r>
          </a:p>
          <a:p>
            <a:pPr>
              <a:buSzPct val="100000"/>
            </a:pPr>
            <a:r>
              <a:rPr lang="fr-FR" sz="1000" dirty="0"/>
              <a:t>Baseline robuste et déjà performante pour un modèle linéaire</a:t>
            </a:r>
          </a:p>
          <a:p>
            <a:pPr>
              <a:buSzPct val="100000"/>
            </a:pPr>
            <a:r>
              <a:rPr lang="fr-FR" sz="1000" dirty="0"/>
              <a:t>Sert de référence solide pour mesurer l’apport </a:t>
            </a:r>
            <a:r>
              <a:rPr lang="fr-FR" sz="1000"/>
              <a:t>de modèles plus </a:t>
            </a:r>
            <a:r>
              <a:rPr lang="fr-FR" sz="1000" dirty="0"/>
              <a:t>complexes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4E95566-8BFE-5A11-1F62-D43BF86E8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54747"/>
              </p:ext>
            </p:extLst>
          </p:nvPr>
        </p:nvGraphicFramePr>
        <p:xfrm>
          <a:off x="7561576" y="248022"/>
          <a:ext cx="1436509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357">
                  <a:extLst>
                    <a:ext uri="{9D8B030D-6E8A-4147-A177-3AD203B41FA5}">
                      <a16:colId xmlns:a16="http://schemas.microsoft.com/office/drawing/2014/main" val="3709268859"/>
                    </a:ext>
                  </a:extLst>
                </a:gridCol>
                <a:gridCol w="494316">
                  <a:extLst>
                    <a:ext uri="{9D8B030D-6E8A-4147-A177-3AD203B41FA5}">
                      <a16:colId xmlns:a16="http://schemas.microsoft.com/office/drawing/2014/main" val="1756377821"/>
                    </a:ext>
                  </a:extLst>
                </a:gridCol>
                <a:gridCol w="478836">
                  <a:extLst>
                    <a:ext uri="{9D8B030D-6E8A-4147-A177-3AD203B41FA5}">
                      <a16:colId xmlns:a16="http://schemas.microsoft.com/office/drawing/2014/main" val="610665761"/>
                    </a:ext>
                  </a:extLst>
                </a:gridCol>
              </a:tblGrid>
              <a:tr h="166099"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/>
                        <a:t>Ham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/>
                        <a:t>Spam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17572"/>
                  </a:ext>
                </a:extLst>
              </a:tr>
              <a:tr h="18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1" dirty="0" err="1"/>
                        <a:t>True</a:t>
                      </a:r>
                      <a:r>
                        <a:rPr lang="fr-FR" sz="700" b="1" dirty="0"/>
                        <a:t> 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TN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FP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960246"/>
                  </a:ext>
                </a:extLst>
              </a:tr>
              <a:tr h="18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1" dirty="0" err="1"/>
                        <a:t>True</a:t>
                      </a:r>
                      <a:r>
                        <a:rPr lang="fr-FR" sz="700" b="1" dirty="0"/>
                        <a:t> 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FN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TP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595691"/>
                  </a:ext>
                </a:extLst>
              </a:tr>
            </a:tbl>
          </a:graphicData>
        </a:graphic>
      </p:graphicFrame>
      <p:pic>
        <p:nvPicPr>
          <p:cNvPr id="8" name="Image 7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50E2FA7C-3F5F-A3EB-E52F-32E48B49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422" y="1091696"/>
            <a:ext cx="5122656" cy="2786110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192237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B46743C6-D182-A883-2DDA-4436914C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A0D4F66-7521-A67E-AF1C-E52F1A7DD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 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Comparaisons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3E3822C5-B8AD-BE0B-59F3-39DE220AF6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92F823C-E859-BDFE-E0C7-6FD4ECE3BFF3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69;p3">
            <a:extLst>
              <a:ext uri="{FF2B5EF4-FFF2-40B4-BE49-F238E27FC236}">
                <a16:creationId xmlns:a16="http://schemas.microsoft.com/office/drawing/2014/main" id="{E7408E75-5FAD-77B5-7594-6A6890E2C3DF}"/>
              </a:ext>
            </a:extLst>
          </p:cNvPr>
          <p:cNvSpPr/>
          <p:nvPr/>
        </p:nvSpPr>
        <p:spPr>
          <a:xfrm>
            <a:off x="311700" y="4151121"/>
            <a:ext cx="8686385" cy="5967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3678729D-2AEB-2E03-B530-1B9AACA68733}"/>
              </a:ext>
            </a:extLst>
          </p:cNvPr>
          <p:cNvSpPr txBox="1">
            <a:spLocks/>
          </p:cNvSpPr>
          <p:nvPr/>
        </p:nvSpPr>
        <p:spPr>
          <a:xfrm>
            <a:off x="539752" y="4143795"/>
            <a:ext cx="8458333" cy="67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fr-FR" sz="1000" dirty="0"/>
              <a:t>956 vrais messages </a:t>
            </a:r>
            <a:r>
              <a:rPr lang="fr-FR" sz="1000" dirty="0" err="1"/>
              <a:t>ham</a:t>
            </a:r>
            <a:r>
              <a:rPr lang="fr-FR" sz="1000" dirty="0"/>
              <a:t> correctement classés comme </a:t>
            </a:r>
            <a:r>
              <a:rPr lang="fr-FR" sz="1000" dirty="0" err="1"/>
              <a:t>ham</a:t>
            </a:r>
            <a:r>
              <a:rPr lang="fr-FR" sz="1000" dirty="0"/>
              <a:t>, </a:t>
            </a:r>
            <a:r>
              <a:rPr lang="fr-FR" sz="1000" b="1" dirty="0"/>
              <a:t>136 / 130 spams correctement détectés</a:t>
            </a:r>
          </a:p>
          <a:p>
            <a:pPr>
              <a:buSzPct val="100000"/>
            </a:pPr>
            <a:r>
              <a:rPr lang="fr-FR" sz="1000" b="1" dirty="0"/>
              <a:t>Forte réduction des faux négatifs </a:t>
            </a:r>
            <a:r>
              <a:rPr lang="fr-FR" sz="1000" dirty="0"/>
              <a:t>par rapport à la </a:t>
            </a:r>
            <a:r>
              <a:rPr lang="fr-FR" sz="1000" dirty="0" err="1"/>
              <a:t>baseline</a:t>
            </a:r>
            <a:endParaRPr lang="fr-FR" sz="1000" dirty="0"/>
          </a:p>
        </p:txBody>
      </p:sp>
      <p:pic>
        <p:nvPicPr>
          <p:cNvPr id="17" name="Image 16" descr="Une image contenant texte, capture d’écran, diagram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6ABD0340-B64B-3BB8-3490-74B836A99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355222"/>
            <a:ext cx="4299158" cy="2325945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9" name="Image 18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D02A2CC4-335B-EB07-1426-E4B10E952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610" y="1354232"/>
            <a:ext cx="4221797" cy="2325945"/>
          </a:xfrm>
          <a:prstGeom prst="rect">
            <a:avLst/>
          </a:prstGeom>
          <a:ln>
            <a:solidFill>
              <a:srgbClr val="E4E9EB"/>
            </a:solidFill>
          </a:ln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1825DFE-1393-23AD-E74E-9758F8CD1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043083"/>
              </p:ext>
            </p:extLst>
          </p:nvPr>
        </p:nvGraphicFramePr>
        <p:xfrm>
          <a:off x="7561576" y="254276"/>
          <a:ext cx="1436509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357">
                  <a:extLst>
                    <a:ext uri="{9D8B030D-6E8A-4147-A177-3AD203B41FA5}">
                      <a16:colId xmlns:a16="http://schemas.microsoft.com/office/drawing/2014/main" val="3709268859"/>
                    </a:ext>
                  </a:extLst>
                </a:gridCol>
                <a:gridCol w="494316">
                  <a:extLst>
                    <a:ext uri="{9D8B030D-6E8A-4147-A177-3AD203B41FA5}">
                      <a16:colId xmlns:a16="http://schemas.microsoft.com/office/drawing/2014/main" val="1756377821"/>
                    </a:ext>
                  </a:extLst>
                </a:gridCol>
                <a:gridCol w="478836">
                  <a:extLst>
                    <a:ext uri="{9D8B030D-6E8A-4147-A177-3AD203B41FA5}">
                      <a16:colId xmlns:a16="http://schemas.microsoft.com/office/drawing/2014/main" val="610665761"/>
                    </a:ext>
                  </a:extLst>
                </a:gridCol>
              </a:tblGrid>
              <a:tr h="166099"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/>
                        <a:t>Ham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/>
                        <a:t>Spam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17572"/>
                  </a:ext>
                </a:extLst>
              </a:tr>
              <a:tr h="18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1" dirty="0" err="1"/>
                        <a:t>True</a:t>
                      </a:r>
                      <a:r>
                        <a:rPr lang="fr-FR" sz="700" b="1" dirty="0"/>
                        <a:t> 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TN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FP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960246"/>
                  </a:ext>
                </a:extLst>
              </a:tr>
              <a:tr h="18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1" dirty="0" err="1"/>
                        <a:t>True</a:t>
                      </a:r>
                      <a:r>
                        <a:rPr lang="fr-FR" sz="700" b="1" dirty="0"/>
                        <a:t> 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FN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TP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59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084738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44EE948-706E-88EB-CDAB-559106AE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7D790BB-B338-1DB7-CDA9-56CE5AB46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 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Comparaisons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0760404D-F812-288D-6FB6-577A62906FC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47F4B41-BC9A-3DA2-6A45-A704B6C51BC5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69;p3">
            <a:extLst>
              <a:ext uri="{FF2B5EF4-FFF2-40B4-BE49-F238E27FC236}">
                <a16:creationId xmlns:a16="http://schemas.microsoft.com/office/drawing/2014/main" id="{CBC0934B-8FB6-3F64-2CA0-653D9D702F77}"/>
              </a:ext>
            </a:extLst>
          </p:cNvPr>
          <p:cNvSpPr/>
          <p:nvPr/>
        </p:nvSpPr>
        <p:spPr>
          <a:xfrm>
            <a:off x="311700" y="4155834"/>
            <a:ext cx="8686385" cy="5967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77A25A17-F834-199E-D55C-4057E6BFD333}"/>
              </a:ext>
            </a:extLst>
          </p:cNvPr>
          <p:cNvSpPr txBox="1">
            <a:spLocks/>
          </p:cNvSpPr>
          <p:nvPr/>
        </p:nvSpPr>
        <p:spPr>
          <a:xfrm>
            <a:off x="539752" y="4116906"/>
            <a:ext cx="8458333" cy="67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fr-FR" sz="1000" dirty="0"/>
              <a:t>963 messages </a:t>
            </a:r>
            <a:r>
              <a:rPr lang="fr-FR" sz="1000" dirty="0" err="1"/>
              <a:t>ham</a:t>
            </a:r>
            <a:r>
              <a:rPr lang="fr-FR" sz="1000" dirty="0"/>
              <a:t> correctement classés comme </a:t>
            </a:r>
            <a:r>
              <a:rPr lang="fr-FR" sz="1000" dirty="0" err="1"/>
              <a:t>ham</a:t>
            </a:r>
            <a:r>
              <a:rPr lang="fr-FR" sz="1000" dirty="0"/>
              <a:t>, </a:t>
            </a:r>
            <a:r>
              <a:rPr lang="fr-FR" sz="1000" b="1" dirty="0"/>
              <a:t>142 spams correctement détectés</a:t>
            </a:r>
          </a:p>
          <a:p>
            <a:pPr>
              <a:buSzPct val="100000"/>
            </a:pPr>
            <a:r>
              <a:rPr lang="fr-FR" sz="1000" dirty="0"/>
              <a:t>Meilleure performance globale : moins de faux positifs et faux négatifs</a:t>
            </a:r>
          </a:p>
          <a:p>
            <a:pPr>
              <a:buSzPct val="100000"/>
            </a:pPr>
            <a:r>
              <a:rPr lang="fr-FR" sz="1000" dirty="0"/>
              <a:t>Modèle le plus robuste, </a:t>
            </a:r>
            <a:r>
              <a:rPr lang="fr-FR" sz="1000" b="1" dirty="0"/>
              <a:t>mais coût de calcul et complexité plus élevés</a:t>
            </a:r>
          </a:p>
        </p:txBody>
      </p:sp>
      <p:pic>
        <p:nvPicPr>
          <p:cNvPr id="5" name="Image 4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B6ECCE46-EF01-AD2B-1834-3F6E2C385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421" y="1066331"/>
            <a:ext cx="5161940" cy="2845793"/>
          </a:xfrm>
          <a:prstGeom prst="rect">
            <a:avLst/>
          </a:prstGeom>
          <a:ln>
            <a:solidFill>
              <a:srgbClr val="E4E9EB"/>
            </a:solidFill>
          </a:ln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CCCC2AE3-0207-0866-5564-4C4B4629A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302489"/>
              </p:ext>
            </p:extLst>
          </p:nvPr>
        </p:nvGraphicFramePr>
        <p:xfrm>
          <a:off x="7561576" y="248022"/>
          <a:ext cx="1436509" cy="594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357">
                  <a:extLst>
                    <a:ext uri="{9D8B030D-6E8A-4147-A177-3AD203B41FA5}">
                      <a16:colId xmlns:a16="http://schemas.microsoft.com/office/drawing/2014/main" val="3709268859"/>
                    </a:ext>
                  </a:extLst>
                </a:gridCol>
                <a:gridCol w="494316">
                  <a:extLst>
                    <a:ext uri="{9D8B030D-6E8A-4147-A177-3AD203B41FA5}">
                      <a16:colId xmlns:a16="http://schemas.microsoft.com/office/drawing/2014/main" val="1756377821"/>
                    </a:ext>
                  </a:extLst>
                </a:gridCol>
                <a:gridCol w="478836">
                  <a:extLst>
                    <a:ext uri="{9D8B030D-6E8A-4147-A177-3AD203B41FA5}">
                      <a16:colId xmlns:a16="http://schemas.microsoft.com/office/drawing/2014/main" val="610665761"/>
                    </a:ext>
                  </a:extLst>
                </a:gridCol>
              </a:tblGrid>
              <a:tr h="166099"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/>
                        <a:t>Ham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700" b="1" dirty="0"/>
                        <a:t>Spam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17572"/>
                  </a:ext>
                </a:extLst>
              </a:tr>
              <a:tr h="18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1" dirty="0" err="1"/>
                        <a:t>True</a:t>
                      </a:r>
                      <a:r>
                        <a:rPr lang="fr-FR" sz="700" b="1" dirty="0"/>
                        <a:t> 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TN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FP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960246"/>
                  </a:ext>
                </a:extLst>
              </a:tr>
              <a:tr h="183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1" dirty="0" err="1"/>
                        <a:t>True</a:t>
                      </a:r>
                      <a:r>
                        <a:rPr lang="fr-FR" sz="700" b="1" dirty="0"/>
                        <a:t> 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FN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700" b="0" dirty="0"/>
                        <a:t>TP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59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964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39311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pour votre attention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36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36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FFAB40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840</Words>
  <Application>Microsoft Office PowerPoint</Application>
  <PresentationFormat>Affichage à l'écran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Inter SemiBold</vt:lpstr>
      <vt:lpstr>Wingdings</vt:lpstr>
      <vt:lpstr>Arial</vt:lpstr>
      <vt:lpstr>Inter Medium</vt:lpstr>
      <vt:lpstr>Simple Light</vt:lpstr>
      <vt:lpstr>1_Simple Light</vt:lpstr>
      <vt:lpstr>AT&amp;T Spam Detector </vt:lpstr>
      <vt:lpstr>Contexte et enjeu</vt:lpstr>
      <vt:lpstr>Méthodologie du projet</vt:lpstr>
      <vt:lpstr>Scope sémantique 1/2</vt:lpstr>
      <vt:lpstr>Scope sémantique 2/2</vt:lpstr>
      <vt:lpstr>Résultats : Baseline vs Deep Learning vs Transformer</vt:lpstr>
      <vt:lpstr>Résultats Comparaisons</vt:lpstr>
      <vt:lpstr>Résultats Comparaisons</vt:lpstr>
      <vt:lpstr>Résultats Comparaisons</vt:lpstr>
      <vt:lpstr>Merci pour votre attention 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Jean-Yves Vuillequez</dc:creator>
  <cp:lastModifiedBy>Jean-Yves Vuillequez</cp:lastModifiedBy>
  <cp:revision>237</cp:revision>
  <dcterms:modified xsi:type="dcterms:W3CDTF">2026-02-15T12:02:17Z</dcterms:modified>
</cp:coreProperties>
</file>